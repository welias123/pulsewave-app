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583680" y="137159"/>
            <a:ext cx="6583680" cy="658368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06640" y="960119"/>
            <a:ext cx="4937760" cy="49377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38160" y="1691640"/>
            <a:ext cx="3474720" cy="347472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78240" y="2331720"/>
            <a:ext cx="2194560" cy="219456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0" y="2880360"/>
            <a:ext cx="1097280" cy="109728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4864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0" i="0">
                <a:solidFill>
                  <a:srgbClr val="FFFFFF"/>
                </a:solidFill>
              </a:rPr>
              <a:t>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554480"/>
            <a:ext cx="6217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Aufbau der Erde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34640"/>
            <a:ext cx="6217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94A3B8"/>
                </a:solidFill>
              </a:rPr>
              <a:t>Erdkruste  ·  Erdmantel  ·  Erdkern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20440"/>
            <a:ext cx="5486400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703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DD4BF"/>
                </a:solidFill>
              </a:rPr>
              <a:t>👤 Person 1  —  Folien 2–5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160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084FC"/>
                </a:solidFill>
              </a:rPr>
              <a:t>👤 Person 2  —  Folien 6–9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264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</a:rPr>
              <a:t>Geographie Referat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🌑  Entstehung der Erde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25603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2DD4BF"/>
                </a:solidFill>
              </a:rPr>
              <a:t>👤 Person 1  ·  Folie 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6949440" cy="265176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43000"/>
            <a:ext cx="54864" cy="265176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34440"/>
            <a:ext cx="672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</a:rPr>
              <a:t>Entstehung &amp; Differenzierung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600200"/>
            <a:ext cx="6720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Vor ~4,6 Mrd. Jahren aus Staub &amp; Gas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Gravitation → Protoerde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Erde war komplett geschmolzen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Schwere Elemente (Eisen) → Kern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Leichte Gesteine → Kruste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931920"/>
            <a:ext cx="6949440" cy="265176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931920"/>
            <a:ext cx="54864" cy="265176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4023359"/>
            <a:ext cx="672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</a:rPr>
              <a:t>Abkühlung &amp; erste Erde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4389120"/>
            <a:ext cx="6720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Oberfläche kühlte langsam ab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Erste feste Erdkruste entstand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Wasser kondensierte → Ozeane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Erdradius: 6.371 km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5 Schichten: je tiefer → heißer &amp; dichter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1143000"/>
            <a:ext cx="4572000" cy="5486400"/>
          </a:xfrm>
          <a:prstGeom prst="rect">
            <a:avLst/>
          </a:prstGeom>
          <a:solidFill>
            <a:srgbClr val="0D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60920" y="1143000"/>
            <a:ext cx="4572000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60920" y="6592824"/>
            <a:ext cx="4572000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60920" y="1143000"/>
            <a:ext cx="36576" cy="5486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96344" y="1143000"/>
            <a:ext cx="36576" cy="5486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36118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94A3B8"/>
                </a:solidFill>
              </a:rPr>
              <a:t>📷  Bild: Entstehung der Erde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🟢  Die Erdkruste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25603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4ADE80"/>
                </a:solidFill>
              </a:rPr>
              <a:t>👤 Person 1  ·  Folie 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6949440" cy="265176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43000"/>
            <a:ext cx="54864" cy="265176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34440"/>
            <a:ext cx="672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DE80"/>
                </a:solidFill>
              </a:rPr>
              <a:t>Kontinentale &amp; Ozeanische Kruste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600200"/>
            <a:ext cx="6720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Kontinental: 30–70 km, Granit → Kontinente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Ozeanisch: 5–10 km, Basalt → Ozeane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Dünnste Schicht, nur 1% der Erdmasse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Hauptelemente: Sauerstoff, Silizium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931920"/>
            <a:ext cx="6949440" cy="265176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931920"/>
            <a:ext cx="54864" cy="265176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4023359"/>
            <a:ext cx="672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</a:rPr>
              <a:t>Tektonische Platten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4389120"/>
            <a:ext cx="6720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Kruste in ~15 große Platten geteilt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Bewegung: 2–10 cm/Jahr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Angetrieben durch Konvektion im Mantel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An Grenzen: Erdbeben, Vulkane, Gebirge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1143000"/>
            <a:ext cx="4572000" cy="5486400"/>
          </a:xfrm>
          <a:prstGeom prst="rect">
            <a:avLst/>
          </a:prstGeom>
          <a:solidFill>
            <a:srgbClr val="0D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60920" y="1143000"/>
            <a:ext cx="4572000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60920" y="6592824"/>
            <a:ext cx="4572000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60920" y="1143000"/>
            <a:ext cx="36576" cy="5486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96344" y="1143000"/>
            <a:ext cx="36576" cy="5486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36118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94A3B8"/>
                </a:solidFill>
              </a:rPr>
              <a:t>📷  Bild: Erdkruste / Platten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🔵  Der obere Erdmantel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25603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60A5FA"/>
                </a:solidFill>
              </a:rPr>
              <a:t>👤 Person 1  ·  Folie 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6949440" cy="265176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43000"/>
            <a:ext cx="54864" cy="265176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34440"/>
            <a:ext cx="672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0A5FA"/>
                </a:solidFill>
              </a:rPr>
              <a:t>Aufbau &amp; Asthenosphäre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600200"/>
            <a:ext cx="6720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Tiefe: 70 – 660 km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Zustand: zähflüssig / plastisch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Temperatur: 1.000 – 1.600°C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Platten 'schwimmen' auf der Asthenosphäre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Magma kann hier entstehen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931920"/>
            <a:ext cx="6949440" cy="265176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931920"/>
            <a:ext cx="54864" cy="265176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4023359"/>
            <a:ext cx="672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D4BF"/>
                </a:solidFill>
              </a:rPr>
              <a:t>Konvektion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4389120"/>
            <a:ext cx="6720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Heißes Gestein steigt auf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Kühlt ab und sinkt wieder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Wie in einem Kochtopf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Treibt die tektonischen Platten 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1143000"/>
            <a:ext cx="4572000" cy="5486400"/>
          </a:xfrm>
          <a:prstGeom prst="rect">
            <a:avLst/>
          </a:prstGeom>
          <a:solidFill>
            <a:srgbClr val="0D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60920" y="1143000"/>
            <a:ext cx="4572000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60920" y="6592824"/>
            <a:ext cx="4572000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60920" y="1143000"/>
            <a:ext cx="36576" cy="5486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96344" y="1143000"/>
            <a:ext cx="36576" cy="5486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36118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94A3B8"/>
                </a:solidFill>
              </a:rPr>
              <a:t>📷  Bild: Oberer Erdmantel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🟠  Der untere Erdmantel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25603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B923C"/>
                </a:solidFill>
              </a:rPr>
              <a:t>👤 Person 1  ·  Folie 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6949440" cy="265176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43000"/>
            <a:ext cx="54864" cy="265176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34440"/>
            <a:ext cx="672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</a:rPr>
              <a:t>Aufbau &amp; Mesosphäre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600200"/>
            <a:ext cx="6720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Tiefe: 660 – 2.900 km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Zustand: FEST (wegen extremem Druck!)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Temperatur: 1.600 – 3.700°C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Dickste Schicht → 74% des Erdvolumens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Gestein: Silikate &amp; Oxide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931920"/>
            <a:ext cx="6949440" cy="265176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931920"/>
            <a:ext cx="54864" cy="2651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4023359"/>
            <a:ext cx="672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</a:rPr>
              <a:t>Bedeutung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4389120"/>
            <a:ext cx="6720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Wärmeleitung vom Kern zur Kruste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Übergang zum Kern bei 2.900 km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Grenze: Gutenberg-Diskontinuität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Treibt langfristig Plattenbewegung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1143000"/>
            <a:ext cx="4572000" cy="5486400"/>
          </a:xfrm>
          <a:prstGeom prst="rect">
            <a:avLst/>
          </a:prstGeom>
          <a:solidFill>
            <a:srgbClr val="0D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60920" y="1143000"/>
            <a:ext cx="4572000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60920" y="6592824"/>
            <a:ext cx="4572000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60920" y="1143000"/>
            <a:ext cx="36576" cy="5486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96344" y="1143000"/>
            <a:ext cx="36576" cy="5486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36118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94A3B8"/>
                </a:solidFill>
              </a:rPr>
              <a:t>📷  Bild: Unterer Erdmantel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🔴  Der äußere Erdkern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25603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87171"/>
                </a:solidFill>
              </a:rPr>
              <a:t>👤 Person 2  ·  Folie 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6949440" cy="265176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43000"/>
            <a:ext cx="54864" cy="2651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34440"/>
            <a:ext cx="672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</a:rPr>
              <a:t>Aufbau &amp; Eigenschaften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600200"/>
            <a:ext cx="6720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Tiefe: 2.900 – 5.150 km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Zustand: FLÜSSIG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Material: Eisen &amp; Nickel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Temperatur: 4.000 – 5.000°C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931920"/>
            <a:ext cx="6949440" cy="265176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931920"/>
            <a:ext cx="54864" cy="265176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4023359"/>
            <a:ext cx="672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84FC"/>
                </a:solidFill>
              </a:rPr>
              <a:t>Das Magnetfeld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4389120"/>
            <a:ext cx="6720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Flüssiges Eisen rotiert → Dynamo-Effekt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→ Erdmagnetfeld entsteht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Magnetfeld schützt vor Sonnenwind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Ohne Magnetfeld → kein Leben auf Erde!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1143000"/>
            <a:ext cx="4572000" cy="5486400"/>
          </a:xfrm>
          <a:prstGeom prst="rect">
            <a:avLst/>
          </a:prstGeom>
          <a:solidFill>
            <a:srgbClr val="0D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60920" y="1143000"/>
            <a:ext cx="4572000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60920" y="6592824"/>
            <a:ext cx="4572000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60920" y="1143000"/>
            <a:ext cx="36576" cy="5486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96344" y="1143000"/>
            <a:ext cx="36576" cy="5486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36118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94A3B8"/>
                </a:solidFill>
              </a:rPr>
              <a:t>📷  Bild: Äußerer Erdkern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🟡  Der innere Erdkern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25603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BBF24"/>
                </a:solidFill>
              </a:rPr>
              <a:t>👤 Person 2  ·  Folie 7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6949440" cy="265176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43000"/>
            <a:ext cx="54864" cy="265176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34440"/>
            <a:ext cx="672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BF24"/>
                </a:solidFill>
              </a:rPr>
              <a:t>Aufbau &amp; Eigenschaften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600200"/>
            <a:ext cx="6720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Tiefe: 5.150 – 6.371 km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Zustand: FEST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Material: Eisen &amp; Nickel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Temperatur: ~5.500°C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Radius: ~1.220 km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931920"/>
            <a:ext cx="6949440" cy="265176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931920"/>
            <a:ext cx="54864" cy="265176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4023359"/>
            <a:ext cx="672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</a:rPr>
              <a:t>Besonderheiten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4389120"/>
            <a:ext cx="6720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Fest trotz 5.500°C → Druck: 3,6 Mio. bar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Rotiert leicht schneller als die Erde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Entdeckt 1936 von Inge Lehmann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Heißeste Stelle der Erde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1143000"/>
            <a:ext cx="4572000" cy="5486400"/>
          </a:xfrm>
          <a:prstGeom prst="rect">
            <a:avLst/>
          </a:prstGeom>
          <a:solidFill>
            <a:srgbClr val="0D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60920" y="1143000"/>
            <a:ext cx="4572000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60920" y="6592824"/>
            <a:ext cx="4572000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60920" y="1143000"/>
            <a:ext cx="36576" cy="5486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96344" y="1143000"/>
            <a:ext cx="36576" cy="5486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36118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94A3B8"/>
                </a:solidFill>
              </a:rPr>
              <a:t>📷  Bild: Innerer Erdkern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🌋  Vulkane &amp; Erdbeben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25603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B923C"/>
                </a:solidFill>
              </a:rPr>
              <a:t>👤 Person 2  ·  Folie 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6949440" cy="265176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43000"/>
            <a:ext cx="54864" cy="265176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34440"/>
            <a:ext cx="672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7171"/>
                </a:solidFill>
              </a:rPr>
              <a:t>Wie entstehen Vulkane &amp; Erdbeben?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600200"/>
            <a:ext cx="6720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An Plattengrenzen drückt Magma hoch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Subduktion → Platte schmilzt → Vulkan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Platten spannen sich → Entladung = Erdbeben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Beispiel: Pazifischer Feuerring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931920"/>
            <a:ext cx="6949440" cy="265176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931920"/>
            <a:ext cx="54864" cy="265176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4023359"/>
            <a:ext cx="672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B923C"/>
                </a:solidFill>
              </a:rPr>
              <a:t>Arten von Plattengrenzen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4389120"/>
            <a:ext cx="6720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Divergent: Platten entfernen sich → Vulkane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Konvergent: stoßen zusammen → Gebirge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Transform: gleiten aneinander → Erdbeben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Beispiele: Vesuv, Eyjafjallajökull, Himalaya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1143000"/>
            <a:ext cx="4572000" cy="5486400"/>
          </a:xfrm>
          <a:prstGeom prst="rect">
            <a:avLst/>
          </a:prstGeom>
          <a:solidFill>
            <a:srgbClr val="0D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60920" y="1143000"/>
            <a:ext cx="4572000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60920" y="6592824"/>
            <a:ext cx="4572000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60920" y="1143000"/>
            <a:ext cx="36576" cy="5486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96344" y="1143000"/>
            <a:ext cx="36576" cy="5486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36118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94A3B8"/>
                </a:solidFill>
              </a:rPr>
              <a:t>📷  Bild: Vulkan / Erdbeben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🌿  Bedeutung für das Leben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25603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4ADE80"/>
                </a:solidFill>
              </a:rPr>
              <a:t>👤 Person 2  ·  Folie 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6949440" cy="265176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43000"/>
            <a:ext cx="54864" cy="265176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34440"/>
            <a:ext cx="672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84FC"/>
                </a:solidFill>
              </a:rPr>
              <a:t>Magnetfeld &amp; Schutz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1600200"/>
            <a:ext cx="6720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Erdkern erzeugt Magnetfeld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Schützt vor gefährlichem Sonnenwind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Ohne Magnetfeld → keine Atmosphäre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→ Kein Leben möglich (wie auf dem Mars)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931920"/>
            <a:ext cx="6949440" cy="265176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931920"/>
            <a:ext cx="54864" cy="265176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4023359"/>
            <a:ext cx="6720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DE80"/>
                </a:solidFill>
              </a:rPr>
              <a:t>Wärme, Energie &amp; Lebensgrundlagen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4389120"/>
            <a:ext cx="6720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• Geothermie: nutzbare Erdwärme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Vulkane → fruchtbarer Boden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Gebirge durch Platten → Wasser &amp; Klima</a:t>
            </a:r>
          </a:p>
          <a:p>
            <a:pPr algn="l"/>
            <a:r>
              <a:rPr sz="1500" b="0">
                <a:solidFill>
                  <a:srgbClr val="FFFFFF"/>
                </a:solidFill>
              </a:rPr>
              <a:t>• Kohlenstoffkreislauf durch Tektonik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1143000"/>
            <a:ext cx="4572000" cy="5486400"/>
          </a:xfrm>
          <a:prstGeom prst="rect">
            <a:avLst/>
          </a:prstGeom>
          <a:solidFill>
            <a:srgbClr val="0D1E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60920" y="1143000"/>
            <a:ext cx="4572000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60920" y="6592824"/>
            <a:ext cx="4572000" cy="36576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60920" y="1143000"/>
            <a:ext cx="36576" cy="5486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896344" y="1143000"/>
            <a:ext cx="36576" cy="54864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36118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94A3B8"/>
                </a:solidFill>
              </a:rPr>
              <a:t>📷  Bild: Leben auf der Erde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100584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" y="9144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📊  Zusammenfassung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2258568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17043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Schicht</a:t>
            </a:r>
          </a:p>
        </p:txBody>
      </p:sp>
      <p:sp>
        <p:nvSpPr>
          <p:cNvPr id="9" name="Rectangle 8"/>
          <p:cNvSpPr/>
          <p:nvPr/>
        </p:nvSpPr>
        <p:spPr>
          <a:xfrm>
            <a:off x="2578608" y="1143000"/>
            <a:ext cx="2258568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24328" y="117043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Tiefe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82896" y="1143000"/>
            <a:ext cx="2258568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28616" y="117043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Temperatur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87184" y="1143000"/>
            <a:ext cx="2258568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2904" y="117043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Zustand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91472" y="1143000"/>
            <a:ext cx="2258568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37192" y="117043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Besonderheit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1691640"/>
            <a:ext cx="11521440" cy="91440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1691640"/>
            <a:ext cx="54864" cy="9144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19476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ADE80"/>
                </a:solidFill>
              </a:rPr>
              <a:t>🟢 Erdkruste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88336" y="19476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0–70 km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2624" y="19476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0–1.000°C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96912" y="19476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Fest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94767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Tektonische Platten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651760"/>
            <a:ext cx="11521440" cy="914400"/>
          </a:xfrm>
          <a:prstGeom prst="rect">
            <a:avLst/>
          </a:prstGeom>
          <a:solidFill>
            <a:srgbClr val="0A1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2651760"/>
            <a:ext cx="54864" cy="9144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" y="290779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60A5FA"/>
                </a:solidFill>
              </a:rPr>
              <a:t>🔵 Ob. Mantel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88336" y="290779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70–660 km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2624" y="290779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1.000–1.600°C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96912" y="290779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Zähflüssig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290779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Platten schwimmen drauf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611880"/>
            <a:ext cx="11521440" cy="91440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3611880"/>
            <a:ext cx="54864" cy="9144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" y="386791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B923C"/>
                </a:solidFill>
              </a:rPr>
              <a:t>🟠 Unt. Mantel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88336" y="386791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660–2.900 km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2624" y="386791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1.600–3.700°C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86791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Fest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386791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Konvektion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572000"/>
            <a:ext cx="11521440" cy="914400"/>
          </a:xfrm>
          <a:prstGeom prst="rect">
            <a:avLst/>
          </a:prstGeom>
          <a:solidFill>
            <a:srgbClr val="0A1C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4320" y="4572000"/>
            <a:ext cx="54864" cy="9144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4048" y="482803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87171"/>
                </a:solidFill>
              </a:rPr>
              <a:t>🔴 Äuß. Kern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88336" y="482803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2.900–5.150 km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92624" y="482803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4.000–5.000°C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96912" y="482803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Flüssig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482803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Erzeugt Magnetfeld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532120"/>
            <a:ext cx="11521440" cy="914400"/>
          </a:xfrm>
          <a:prstGeom prst="rect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4320" y="5532120"/>
            <a:ext cx="54864" cy="91440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4048" y="578815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BBF24"/>
                </a:solidFill>
              </a:rPr>
              <a:t>🟡 Inn. Kern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88336" y="578815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5.150–6.371 km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92624" y="578815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~5.500°C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96912" y="578815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Fest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578815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3,6 Mio. bar Druck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4320" y="640080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2DD4BF"/>
                </a:solidFill>
              </a:rPr>
              <a:t>Je tiefer → desto heißer, dichter und unter höherem Druck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889504" y="-91440"/>
            <a:ext cx="6400800" cy="6400800"/>
          </a:xfrm>
          <a:prstGeom prst="ellipse">
            <a:avLst/>
          </a:prstGeom>
          <a:solidFill>
            <a:srgbClr val="0F2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712464" y="731519"/>
            <a:ext cx="4754880" cy="475488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443984" y="1463039"/>
            <a:ext cx="3291840" cy="329184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84064" y="2103120"/>
            <a:ext cx="2011680" cy="2011680"/>
          </a:xfrm>
          <a:prstGeom prst="ellipse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632704" y="2651760"/>
            <a:ext cx="914400" cy="9144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27432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</a:rPr>
              <a:t>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63040"/>
            <a:ext cx="9418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Danke fürs Zuhören!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94A3B8"/>
                </a:solidFill>
              </a:rPr>
              <a:t>Fragen?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3429000"/>
            <a:ext cx="7616952" cy="36576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3703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2DD4BF"/>
                </a:solidFill>
              </a:rPr>
              <a:t>👤 Person 1  —  Entstehung · Erdkruste · Ob. Mantel · Unt. Mantel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1605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084FC"/>
                </a:solidFill>
              </a:rPr>
              <a:t>👤 Person 2  —  Äuß. Kern · Inn. Kern · Vulkane &amp; Erdbeben · Bedeutung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
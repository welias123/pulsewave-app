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72200" y="914400"/>
            <a:ext cx="5029200" cy="5029200"/>
          </a:xfrm>
          <a:prstGeom prst="ellipse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0" y="1600200"/>
            <a:ext cx="3657600" cy="3657600"/>
          </a:xfrm>
          <a:prstGeom prst="ellipse">
            <a:avLst/>
          </a:prstGeom>
          <a:solidFill>
            <a:srgbClr val="12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2286000"/>
            <a:ext cx="2286000" cy="2286000"/>
          </a:xfrm>
          <a:prstGeom prst="ellipse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60" y="2880360"/>
            <a:ext cx="1097280" cy="1097280"/>
          </a:xfrm>
          <a:prstGeom prst="ellipse">
            <a:avLst/>
          </a:prstGeom>
          <a:solidFill>
            <a:srgbClr val="C4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Aufbau der Erde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4A9EE8"/>
                </a:solidFill>
                <a:latin typeface="Calibri"/>
              </a:rPr>
              <a:t>Erdkruste · Erdmantel · Erdkern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3200400" cy="4572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Calibri"/>
              </a:rPr>
              <a:t>Geographie Referat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Klasse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🌍  Überblick — Die Schichten der Erde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Calibri"/>
              </a:rPr>
              <a:t>Die Erde besteht aus vier Hauptschichten, die sich nach Dichte und Zusammensetzung unterscheiden.
Je tiefer man geht, desto heißer und dichter wird das Material.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972800" cy="77724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73152" cy="777240"/>
          </a:xfrm>
          <a:prstGeom prst="rect">
            <a:avLst/>
          </a:prstGeom>
          <a:solidFill>
            <a:srgbClr val="2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76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8A4A"/>
                </a:solidFill>
                <a:latin typeface="Calibri"/>
              </a:rPr>
              <a:t>🟢  Erdkruste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762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 – 70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762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Fest · Gestein · Tektonische Platten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90087"/>
            <a:ext cx="10972800" cy="77724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90087"/>
            <a:ext cx="73152" cy="77724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C4"/>
                </a:solidFill>
                <a:latin typeface="Calibri"/>
              </a:rPr>
              <a:t>🔵  Oberer Erdmantel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0632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70 – 660 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632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Zähflüssig · Silikate · Magma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77056"/>
            <a:ext cx="10972800" cy="77724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77056"/>
            <a:ext cx="73152" cy="77724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50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1A"/>
                </a:solidFill>
                <a:latin typeface="Calibri"/>
              </a:rPr>
              <a:t>🟠  Unterer Erdmantel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950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660 – 2.900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9502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Fest · Sehr heiß · Hoher Druck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64024"/>
            <a:ext cx="10972800" cy="77724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64024"/>
            <a:ext cx="73152" cy="777240"/>
          </a:xfrm>
          <a:prstGeom prst="rect">
            <a:avLst/>
          </a:prstGeom>
          <a:solidFill>
            <a:srgbClr val="C4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371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2A1A"/>
                </a:solidFill>
                <a:latin typeface="Calibri"/>
              </a:rPr>
              <a:t>🔴  Äußerer Erdkern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8371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2.900 – 5.150 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8371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Flüssig · Eisen &amp; Nickel · 4.000–5.000°C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50992"/>
            <a:ext cx="10972800" cy="77724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650992"/>
            <a:ext cx="73152" cy="7772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7241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C00"/>
                </a:solidFill>
                <a:latin typeface="Calibri"/>
              </a:rPr>
              <a:t>🟡  Innerer Erdkern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7241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5.150 – 6.371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72414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Fest · Eisen &amp; Nickel · ~5.500°C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A8A4A"/>
                </a:solidFill>
                <a:latin typeface="Calibri"/>
              </a:rPr>
              <a:t>🟢  Erdkruste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1A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Calibri"/>
              </a:rPr>
              <a:t>Die Erdkruste ist die äußerste und dünnste Schicht der Erde — die Schicht auf der wir leben.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394960" cy="192024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64008" cy="1920240"/>
          </a:xfrm>
          <a:prstGeom prst="rect">
            <a:avLst/>
          </a:prstGeom>
          <a:solidFill>
            <a:srgbClr val="2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47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8A4A"/>
                </a:solidFill>
                <a:latin typeface="Calibri"/>
              </a:rPr>
              <a:t>Kontinentale Kruste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• Dicke: 30–70 km
• Besteht aus leichtem Gestein (Granit)
• Trägt die Kontinente und Gebirge
• Ältere, leichtere Gesteine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394960" cy="192024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64008" cy="1920240"/>
          </a:xfrm>
          <a:prstGeom prst="rect">
            <a:avLst/>
          </a:prstGeom>
          <a:solidFill>
            <a:srgbClr val="4A9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847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E8"/>
                </a:solidFill>
                <a:latin typeface="Calibri"/>
              </a:rPr>
              <a:t>Ozeanische Kruste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2402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• Dicke: 5–10 km
• Besteht aus schwerem Gestein (Basalt)
• Liegt unter den Ozeanen
• Jünger und dichter als Kontinentalkruste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5394960" cy="164592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64008" cy="16459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9502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A"/>
                </a:solidFill>
                <a:latin typeface="Calibri"/>
              </a:rPr>
              <a:t>Tektonische Platten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3434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Die Erdkruste ist in mehrere große Platten zerbrochen, die sich langsam bewegen (ca. 2–10 cm/Jahr). An den Grenzen entstehen Erdbeben, Vulkane und Gebirge.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394960" cy="164592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64008" cy="1645920"/>
          </a:xfrm>
          <a:prstGeom prst="rect">
            <a:avLst/>
          </a:prstGeom>
          <a:solidFill>
            <a:srgbClr val="2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9502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8A4A"/>
                </a:solidFill>
                <a:latin typeface="Calibri"/>
              </a:rPr>
              <a:t>Wichtige Fakten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3434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• Temperatur: 0°C bis ~1.000°C
• Dichte: 2,7–3,0 g/cm³
• Hauptelemente: Sauerstoff, Silizium, Aluminium
• Macht nur 1% der Erdmasse aus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4A9EE8"/>
                </a:solidFill>
                <a:latin typeface="Calibri"/>
              </a:rPr>
              <a:t>🔵  Erdmantel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Calibri"/>
              </a:rPr>
              <a:t>Der Erdmantel ist die dickste Schicht und macht ca. 84% des Erdvolumens aus.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394960" cy="228600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64008" cy="2286000"/>
          </a:xfrm>
          <a:prstGeom prst="rect">
            <a:avLst/>
          </a:prstGeom>
          <a:solidFill>
            <a:srgbClr val="4A9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47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E8"/>
                </a:solidFill>
                <a:latin typeface="Calibri"/>
              </a:rPr>
              <a:t>Oberer Erdmantel (Asthenosphäre)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• Tiefe: 70 – 660 km
• Zähflüssig, plastisch verformbar
• Hier schwimmen die tektonischen Platten
• Temperatur: 1.000 – 1.600°C
• Magma kann an die Oberfläche steigen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394960" cy="228600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64008" cy="2286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847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A"/>
                </a:solidFill>
                <a:latin typeface="Calibri"/>
              </a:rPr>
              <a:t>Unterer Erdmantel (Mesosphäre)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2402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• Tiefe: 660 – 2.900 km
• Trotz hoher Temperatur fest (wegen Druck)
• Sehr langsame Konvektionsströmungen
• Temperatur: 1.600 – 3.700°C
• Hauptsächlich Silikate &amp; Oxide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5394960" cy="155448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64008" cy="1554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A"/>
                </a:solidFill>
                <a:latin typeface="Calibri"/>
              </a:rPr>
              <a:t>Konvektion im Mantel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0915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Heiße Gesteine steigen auf, kühlen ab und sinken wieder — wie in einem Kochtopf. Diese Strömungen bewegen die tektonischen Platten und sind der Antrieb für Vulkane und Erdbeben.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5394960" cy="155448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64008" cy="1554480"/>
          </a:xfrm>
          <a:prstGeom prst="rect">
            <a:avLst/>
          </a:prstGeom>
          <a:solidFill>
            <a:srgbClr val="4A9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E8"/>
                </a:solidFill>
                <a:latin typeface="Calibri"/>
              </a:rPr>
              <a:t>Zusammensetzung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70915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• Hauptelement: Sauerstoff, Magnesium, Eisen
• Gestein: Peridotit, Olivin
• Dichte: 3,3 – 5,6 g/cm³
• Macht ~84% des Erdvolumens aus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4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2A1A"/>
                </a:solidFill>
                <a:latin typeface="Calibri"/>
              </a:rPr>
              <a:t>🔴  Erdkern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33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Calibri"/>
              </a:rPr>
              <a:t>Der Erdkern besteht hauptsächlich aus Eisen und Nickel und ist der heißeste Teil der Erde.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394960" cy="237744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64008" cy="2377440"/>
          </a:xfrm>
          <a:prstGeom prst="rect">
            <a:avLst/>
          </a:prstGeom>
          <a:solidFill>
            <a:srgbClr val="C4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47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2A1A"/>
                </a:solidFill>
                <a:latin typeface="Calibri"/>
              </a:rPr>
              <a:t>🔴  Äußerer Erdkern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• Tiefe: 2.900 – 5.150 km
• Zustand: FLÜSSIG
• Besteht aus: Eisen &amp; Nickel
• Temperatur: 4.000 – 5.000°C
• Erzeugt durch Rotation das Magnetfeld der Erde!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394960" cy="237744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64008" cy="23774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847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Calibri"/>
              </a:rPr>
              <a:t>🟡  Innerer Erdkern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2402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• Tiefe: 5.150 – 6.371 km
• Zustand: FEST (trotz ~5.500°C)
• Grund: Extremer Druck (3,6 Mio. bar)
• Radius: ca. 1.220 km
• Rotiert leicht schneller als die Erde selbst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394960" cy="155448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64008" cy="1554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4074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A"/>
                </a:solidFill>
                <a:latin typeface="Calibri"/>
              </a:rPr>
              <a:t>🧲  Erdmagnetfeld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Der flüssige äußere Kern aus Eisen bewegt sich durch die Erdrotation. Dadurch entsteht das Magnetfeld — es schützt uns vor gefährlicher Sonnenstrahlung (Sonnenwind).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297680"/>
            <a:ext cx="5394960" cy="155448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297680"/>
            <a:ext cx="64008" cy="1554480"/>
          </a:xfrm>
          <a:prstGeom prst="rect">
            <a:avLst/>
          </a:prstGeom>
          <a:solidFill>
            <a:srgbClr val="C4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4074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2A1A"/>
                </a:solidFill>
                <a:latin typeface="Calibri"/>
              </a:rPr>
              <a:t>📊  Zahlen &amp; Fakten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800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• Gesamtradius Erde: 6.371 km
• Kernmasse: ~32% der Erdmasse
• Kernvolumen: ~16% des Erdvolumens
• Entdeckt durch Seismologie (Erdbebenwellen)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📊  Zusammenfassung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304288" cy="41148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Schicht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188720"/>
            <a:ext cx="1938528" cy="41148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Tiefe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188720"/>
            <a:ext cx="1938528" cy="41148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216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Temperatur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188720"/>
            <a:ext cx="1572768" cy="41148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79" y="1216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Zustand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188720"/>
            <a:ext cx="2761488" cy="41148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216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Besonderheit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27632"/>
            <a:ext cx="230428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66420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8A4A"/>
                </a:solidFill>
                <a:latin typeface="Calibri"/>
              </a:rPr>
              <a:t>🟢 Erdkruste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1627632"/>
            <a:ext cx="193852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66420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0–70 km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627632"/>
            <a:ext cx="193852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66420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0–1.000°C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1627632"/>
            <a:ext cx="157276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79" y="1664208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1627632"/>
            <a:ext cx="276148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1664208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Tektonische Platten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432304"/>
            <a:ext cx="2304288" cy="749808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46888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EE8"/>
                </a:solidFill>
                <a:latin typeface="Calibri"/>
              </a:rPr>
              <a:t>🔵 Oberer Mantel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2432304"/>
            <a:ext cx="1938528" cy="749808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246888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70–660 km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2432304"/>
            <a:ext cx="1938528" cy="749808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246888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1.000–1.600°C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2432304"/>
            <a:ext cx="1572768" cy="749808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79" y="2468880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Zähflüssig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2432304"/>
            <a:ext cx="2761488" cy="749808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2468880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Trägt die Platten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236976"/>
            <a:ext cx="230428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27355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1A"/>
                </a:solidFill>
                <a:latin typeface="Calibri"/>
              </a:rPr>
              <a:t>🟠 Unterer Mantel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3236976"/>
            <a:ext cx="193852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327355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660–2.900 km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3236976"/>
            <a:ext cx="193852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327355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1.600–3.700°C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3236976"/>
            <a:ext cx="157276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79" y="3273552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3236976"/>
            <a:ext cx="276148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327355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Konvektionsströme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041648"/>
            <a:ext cx="2304288" cy="749808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078224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2A1A"/>
                </a:solidFill>
                <a:latin typeface="Calibri"/>
              </a:rPr>
              <a:t>🔴 Äuß. Erdkern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4041648"/>
            <a:ext cx="1938528" cy="749808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0" y="4078224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2.900–5.150 km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4041648"/>
            <a:ext cx="1938528" cy="749808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4078224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4.000–5.000°C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4041648"/>
            <a:ext cx="1572768" cy="749808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79" y="4078224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Flüssig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60" y="4041648"/>
            <a:ext cx="2761488" cy="749808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0" y="4078224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Erzeugt Magnetfeld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846320"/>
            <a:ext cx="230428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882896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C00"/>
                </a:solidFill>
                <a:latin typeface="Calibri"/>
              </a:rPr>
              <a:t>🟡 Inn. Erdkern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0" y="4846320"/>
            <a:ext cx="193852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0" y="488289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5.150–6.371 km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4846320"/>
            <a:ext cx="193852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488289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~5.500°C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0" y="4846320"/>
            <a:ext cx="157276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79" y="4882896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Fest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95360" y="4846320"/>
            <a:ext cx="2761488" cy="749808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86800" y="488289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Extremer Druck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BBCC"/>
                </a:solidFill>
                <a:latin typeface="Calibri"/>
              </a:rPr>
              <a:t>Je tiefer → desto heißer, dichter und unter höherem Druck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84448" y="914400"/>
            <a:ext cx="5029200" cy="5029200"/>
          </a:xfrm>
          <a:prstGeom prst="ellipse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61688" y="1691640"/>
            <a:ext cx="3474720" cy="3474720"/>
          </a:xfrm>
          <a:prstGeom prst="ellipse">
            <a:avLst/>
          </a:prstGeom>
          <a:solidFill>
            <a:srgbClr val="0F2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93208" y="2423160"/>
            <a:ext cx="2011680" cy="2011680"/>
          </a:xfrm>
          <a:prstGeom prst="ellipse">
            <a:avLst/>
          </a:prstGeom>
          <a:solidFill>
            <a:srgbClr val="331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41848" y="2971800"/>
            <a:ext cx="914400" cy="914400"/>
          </a:xfrm>
          <a:prstGeom prst="ellipse">
            <a:avLst/>
          </a:prstGeom>
          <a:solidFill>
            <a:srgbClr val="55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0058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Danke fürs Zuhören!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4A9EE8"/>
                </a:solidFill>
                <a:latin typeface="Calibri"/>
              </a:rPr>
              <a:t>Fragen?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840480"/>
            <a:ext cx="3959352" cy="4572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0233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Aufbau der Erde  ·  Erdkruste  ·  Erdmantel  ·  Erdkern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
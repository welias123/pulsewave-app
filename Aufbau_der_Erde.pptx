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172200" y="914400"/>
            <a:ext cx="5029200" cy="5029200"/>
          </a:xfrm>
          <a:prstGeom prst="ellipse">
            <a:avLst/>
          </a:prstGeom>
          <a:solidFill>
            <a:srgbClr val="0D2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0" y="1600200"/>
            <a:ext cx="3657600" cy="3657600"/>
          </a:xfrm>
          <a:prstGeom prst="ellipse">
            <a:avLst/>
          </a:prstGeom>
          <a:solidFill>
            <a:srgbClr val="122D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2286000"/>
            <a:ext cx="2286000" cy="2286000"/>
          </a:xfrm>
          <a:prstGeom prst="ellipse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138160" y="2880360"/>
            <a:ext cx="1097280" cy="1097280"/>
          </a:xfrm>
          <a:prstGeom prst="ellipse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22960"/>
            <a:ext cx="1097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Aufbau der Erde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A9EE8"/>
                </a:solidFill>
                <a:latin typeface="Calibri"/>
              </a:rPr>
              <a:t>Erdkruste · Erdmantel · Erdkern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200400" cy="4572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Geographie Referat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2179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5566"/>
                </a:solidFill>
                <a:latin typeface="Calibri"/>
              </a:rPr>
              <a:t>Klasse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🌍  Überblick — Die Schichten der Erde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Die Erde besteht aus vier Hauptschichten, die sich nach Dichte und Zusammensetzung unterscheiden.
Je tiefer man geht, desto heißer und dichter wird das Material.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77724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1762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A8A4A"/>
                </a:solidFill>
                <a:latin typeface="Calibri"/>
              </a:rPr>
              <a:t>🟢  Erdkruste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17627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0 – 70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1762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Gestein · Tektonische Platten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90087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990087"/>
            <a:ext cx="73152" cy="77724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6BC4"/>
                </a:solidFill>
                <a:latin typeface="Calibri"/>
              </a:rPr>
              <a:t>🔵  Oberer Erdmantel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06323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70 – 660 km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06323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Zähflüssig · Silikate · Magma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877056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877056"/>
            <a:ext cx="73152" cy="77724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95020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6A1A"/>
                </a:solidFill>
                <a:latin typeface="Calibri"/>
              </a:rPr>
              <a:t>🟠  Unterer Erdmantel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9502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660 – 2.900 km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5020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Sehr heiß · Hoher Druck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64024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64024"/>
            <a:ext cx="73152" cy="77724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3717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42A1A"/>
                </a:solidFill>
                <a:latin typeface="Calibri"/>
              </a:rPr>
              <a:t>🔴  Äußerer Erdkern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4837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2.900 – 5.150 km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8371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Flüssig · Eisen &amp; Nickel · 4.000–5.000°C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50992"/>
            <a:ext cx="10972800" cy="777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650992"/>
            <a:ext cx="73152" cy="7772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72414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CC00"/>
                </a:solidFill>
                <a:latin typeface="Calibri"/>
              </a:rPr>
              <a:t>🟡  Innerer Erdkern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72414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5.150 – 6.371 km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572414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Fest · Eisen &amp; Nickel · ~5.500°C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2A8A4A"/>
                </a:solidFill>
                <a:latin typeface="Calibri"/>
              </a:rPr>
              <a:t>🟢  Erdkruste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1A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Die Erdkruste ist die äußerste und dünnste Schicht der Erde — die Schicht auf der wir leben.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1920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192024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8A4A"/>
                </a:solidFill>
                <a:latin typeface="Calibri"/>
              </a:rPr>
              <a:t>Kontinentale Kruste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Dicke: 30–70 km
• Besteht aus leichtem Gestein (Granit)
• Trägt die Kontinente und Gebirge
• Ältere, leichtere Gesteine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19202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192024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Ozeanische Kruste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Dicke: 5–10 km
• Besteht aus schwerem Gestein (Basalt)
• Liegt unter den Ozeanen
• Jünger und dichter als Kontinentalkruste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840480"/>
            <a:ext cx="5394960" cy="164592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4008" cy="164592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9502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Tektonische Platten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343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Die Erdkruste ist in mehrere große Platten zerbrochen, die sich langsam bewegen (ca. 2–10 cm/Jahr). An den Grenzen entstehen Erdbeben, Vulkane und Gebirge.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840480"/>
            <a:ext cx="5394960" cy="164592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64008" cy="1645920"/>
          </a:xfrm>
          <a:prstGeom prst="rect">
            <a:avLst/>
          </a:prstGeom>
          <a:solidFill>
            <a:srgbClr val="2A8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39502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A8A4A"/>
                </a:solidFill>
                <a:latin typeface="Calibri"/>
              </a:rPr>
              <a:t>Wichtige Fakten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343400"/>
            <a:ext cx="5120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Temperatur: 0°C bis ~1.000°C
• Dichte: 2,7–3,0 g/cm³
• Hauptelemente: Sauerstoff, Silizium, Aluminium
• Macht nur 1% der Erdmasse aus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4A9EE8"/>
                </a:solidFill>
                <a:latin typeface="Calibri"/>
              </a:rPr>
              <a:t>🔵  Erdmantel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1A2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Der Erdmantel ist die dickste Schicht und macht ca. 84% des Erdvolumens aus.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228600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228600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Oberer Erdmantel (Asthenosphäre)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70 – 660 km
• Zähflüssig, plastisch verformbar
• Hier schwimmen die tektonischen Platten
• Temperatur: 1.000 – 1.600°C
• Magma kann an die Oberfläche steigen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228600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2286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Unterer Erdmantel (Mesosphäre)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660 – 2.900 km
• Trotz hoher Temperatur fest (wegen Druck)
• Sehr langsame Konvektionsströmungen
• Temperatur: 1.600 – 3.700°C
• Hauptsächlich Silikate &amp; Oxide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0624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06240"/>
            <a:ext cx="64008" cy="1554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Konvektion im Mantel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09159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Heiße Gesteine steigen auf, kühlen ab und sinken wieder — wie in einem Kochtopf. Diese Strömungen bewegen die tektonischen Platten und sind der Antrieb für Vulkane und Erdbeben.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0624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06240"/>
            <a:ext cx="64008" cy="1554480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3159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A9EE8"/>
                </a:solidFill>
                <a:latin typeface="Calibri"/>
              </a:rPr>
              <a:t>Zusammensetzung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709159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Hauptelement: Sauerstoff, Magnesium, Eisen
• Gestein: Peridotit, Olivin
• Dichte: 3,3 – 5,6 g/cm³
• Macht ~84% des Erdvolumens aus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C42A1A"/>
                </a:solidFill>
                <a:latin typeface="Calibri"/>
              </a:rPr>
              <a:t>🔴  Erdkern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33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CC"/>
                </a:solidFill>
                <a:latin typeface="Calibri"/>
              </a:rPr>
              <a:t>Der Erdkern besteht hauptsächlich aus Eisen und Nickel und ist der heißeste Teil der Erde.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5394960" cy="23774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64008" cy="237744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2A1A"/>
                </a:solidFill>
                <a:latin typeface="Calibri"/>
              </a:rPr>
              <a:t>🔴  Äußerer Erdkern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402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2.900 – 5.150 km
• Zustand: FLÜSSIG
• Besteht aus: Eisen &amp; Nickel
• Temperatur: 4.000 – 5.000°C
• Erzeugt durch Rotation das Magnetfeld der Erde!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37360"/>
            <a:ext cx="5394960" cy="237744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737360"/>
            <a:ext cx="64008" cy="2377440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18470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CC00"/>
                </a:solidFill>
                <a:latin typeface="Calibri"/>
              </a:rPr>
              <a:t>🟡  Innerer Erdkern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240280"/>
            <a:ext cx="5120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Tiefe: 5.150 – 6.371 km
• Zustand: FEST (trotz ~5.500°C)
• Grund: Extremer Druck (3,6 Mio. bar)
• Radius: ca. 1.220 km
• Rotiert leicht schneller als die Erde selbst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29768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297680"/>
            <a:ext cx="64008" cy="1554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44074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86A1A"/>
                </a:solidFill>
                <a:latin typeface="Calibri"/>
              </a:rPr>
              <a:t>🧲  Erdmagnetfeld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8006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Der flüssige äußere Kern aus Eisen bewegt sich durch die Erdrotation. Dadurch entsteht das Magnetfeld — es schützt uns vor gefährlicher Sonnenstrahlung (Sonnenwind).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4297680"/>
            <a:ext cx="5394960" cy="1554480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4297680"/>
            <a:ext cx="64008" cy="1554480"/>
          </a:xfrm>
          <a:prstGeom prst="rect">
            <a:avLst/>
          </a:prstGeom>
          <a:solidFill>
            <a:srgbClr val="C42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2512" y="440740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42A1A"/>
                </a:solidFill>
                <a:latin typeface="Calibri"/>
              </a:rPr>
              <a:t>📊  Zahlen &amp; Fakten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80060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• Gesamtradius Erde: 6.371 km
• Kernmasse: ~32% der Erdmasse
• Kernvolumen: ~16% des Erdvolumens
• Entdeckt durch Seismologie (Erdbebenwellen)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A9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144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📊  Zusammenfassung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11064240" cy="36576"/>
          </a:xfrm>
          <a:prstGeom prst="rect">
            <a:avLst/>
          </a:prstGeom>
          <a:solidFill>
            <a:srgbClr val="22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230428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Schicht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1188720"/>
            <a:ext cx="193852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2161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Tiefe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188720"/>
            <a:ext cx="193852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0" y="121615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Temperatur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188720"/>
            <a:ext cx="157276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79" y="121615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Zustand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188720"/>
            <a:ext cx="2761488" cy="41148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121615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Besonderheit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627632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664208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A8A4A"/>
                </a:solidFill>
                <a:latin typeface="Calibri"/>
              </a:rPr>
              <a:t>🟢 Erdkruste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627632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17520" y="1664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0–70 km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627632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0" y="1664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0–1.000°C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1627632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79" y="1664208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95360" y="1627632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1664208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Tektonische Platten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432304"/>
            <a:ext cx="23042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468880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A9EE8"/>
                </a:solidFill>
                <a:latin typeface="Calibri"/>
              </a:rPr>
              <a:t>🔵 Oberer Mantel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432304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246888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70–660 km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37760" y="2432304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246888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1.000–1.600°C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0" y="2432304"/>
            <a:ext cx="157276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0879" y="2468880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Zähflüssig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95360" y="2432304"/>
            <a:ext cx="27614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2468880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Trägt die Platten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236976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273552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86A1A"/>
                </a:solidFill>
                <a:latin typeface="Calibri"/>
              </a:rPr>
              <a:t>🟠 Unterer Mantel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236976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017520" y="327355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660–2.900 km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3236976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327355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1.600–3.700°C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49440" y="3236976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0879" y="3273552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95360" y="3236976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3273552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Konvektionsströme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041648"/>
            <a:ext cx="23042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078224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2A1A"/>
                </a:solidFill>
                <a:latin typeface="Calibri"/>
              </a:rPr>
              <a:t>🔴 Äuß. Erdkern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4041648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40782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2.900–5.150 km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4041648"/>
            <a:ext cx="193852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40782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4.000–5.000°C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49440" y="4041648"/>
            <a:ext cx="157276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0879" y="4078224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Flüssig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60" y="4041648"/>
            <a:ext cx="2761488" cy="749808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86800" y="4078224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Erzeugt Magnetfeld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46320"/>
            <a:ext cx="23042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4882896"/>
            <a:ext cx="21945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CC00"/>
                </a:solidFill>
                <a:latin typeface="Calibri"/>
              </a:rPr>
              <a:t>🟡 Inn. Erdkern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4846320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017520" y="488289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5.150–6.371 km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937760" y="4846320"/>
            <a:ext cx="193852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0" y="488289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~5.500°C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949440" y="4846320"/>
            <a:ext cx="157276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40879" y="4882896"/>
            <a:ext cx="1463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Fest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95360" y="4846320"/>
            <a:ext cx="2761488" cy="749808"/>
          </a:xfrm>
          <a:prstGeom prst="rect">
            <a:avLst/>
          </a:prstGeom>
          <a:solidFill>
            <a:srgbClr val="10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0" y="4882896"/>
            <a:ext cx="26517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Extremer Druck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080760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ABBCC"/>
                </a:solidFill>
                <a:latin typeface="Calibri"/>
              </a:rPr>
              <a:t>Je tiefer → desto heißer, dichter und unter höherem Druck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60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584448" y="914400"/>
            <a:ext cx="5029200" cy="5029200"/>
          </a:xfrm>
          <a:prstGeom prst="ellipse">
            <a:avLst/>
          </a:prstGeom>
          <a:solidFill>
            <a:srgbClr val="081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361688" y="1691640"/>
            <a:ext cx="3474720" cy="3474720"/>
          </a:xfrm>
          <a:prstGeom prst="ellipse">
            <a:avLst/>
          </a:prstGeom>
          <a:solidFill>
            <a:srgbClr val="0F2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093208" y="2423160"/>
            <a:ext cx="2011680" cy="2011680"/>
          </a:xfrm>
          <a:prstGeom prst="ellipse">
            <a:avLst/>
          </a:prstGeom>
          <a:solidFill>
            <a:srgbClr val="3318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641848" y="2971800"/>
            <a:ext cx="914400" cy="914400"/>
          </a:xfrm>
          <a:prstGeom prst="ellipse">
            <a:avLst/>
          </a:prstGeom>
          <a:solidFill>
            <a:srgbClr val="5510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0" y="100584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94457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Danke fürs Zuhören!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0175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4A9EE8"/>
                </a:solidFill>
                <a:latin typeface="Calibri"/>
              </a:rPr>
              <a:t>Fragen?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3840480"/>
            <a:ext cx="3959352" cy="45720"/>
          </a:xfrm>
          <a:prstGeom prst="rect">
            <a:avLst/>
          </a:prstGeom>
          <a:solidFill>
            <a:srgbClr val="1A6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40233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CC"/>
                </a:solidFill>
                <a:latin typeface="Calibri"/>
              </a:rPr>
              <a:t>Aufbau der Erde  ·  Erdkruste  ·  Erdmantel  ·  Erdkern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
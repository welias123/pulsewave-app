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0" y="-45719"/>
            <a:ext cx="6949440" cy="694944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32320" y="685800"/>
            <a:ext cx="5486400" cy="54864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863840" y="1417319"/>
            <a:ext cx="4023360" cy="402336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0" y="2148840"/>
            <a:ext cx="2560320" cy="25603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235440" y="2788920"/>
            <a:ext cx="1280160" cy="128016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6217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Aufbau der Erde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4A3B8"/>
                </a:solidFill>
              </a:rPr>
              <a:t>Erdkruste  ·  Erdmantel  ·  Erdkern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5486400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DD4BF"/>
                </a:solidFill>
              </a:rPr>
              <a:t>👤 Person 1  —  Folien 2–5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084FC"/>
                </a:solidFill>
              </a:rPr>
              <a:t>👤 Person 2  —  Folien 6–9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Geographie Referat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🌑  Entstehung der 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DD4BF"/>
                </a:solidFill>
              </a:rPr>
              <a:t>👤 Person 1  ·  Folie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Urknall &amp; Sonnensystem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Vor ~4,6 Milliarden Jahren entstand die Erde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Aus einer rotierenden Gas- und Staubscheibe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um die junge Sonne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Kleine Partikel zogen sich durch Gravitation zusammen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immer größerer Körper: Protoerde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Differenzierung (Schichtenbildung)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Die Erde war anfangs komplett geschmolzen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Schwere Elemente (Eisen, Nickel) sanken in die Mitte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Leichtere Gesteine stiegen nach oben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Kern, Mantel und Kruste bildeten sich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Abkühlung &amp; erste Kruste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Oberfläche kühlte langsam ab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Erste feste Erdkruste entstand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Wasser kondensierte → erste Ozeane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Erste Atmosphäre bildete sich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Wichtige Fakten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Alter der Erde: ~4,6 Mrd. Jahre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Erdradius: 6.371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5 Schichten: Kruste, ob. Mantel,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unt. Mantel, äuß. Kern, inn. Kern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Je tiefer → heißer &amp; dichter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🟢  Die Erdkruste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4ADE80"/>
                </a:solidFill>
              </a:rPr>
              <a:t>👤 Person 1  ·  Folie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DE80"/>
                </a:solidFill>
              </a:rPr>
              <a:t>Kontinentale Kruste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Dicke: 30–70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Gestein: Granit (leicht)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Trägt die Kontinente &amp; Gebirge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Älter und leichter als ozeanische Kruste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Temperatur: 0°C bis ~1.000°C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0A5FA"/>
                </a:solidFill>
              </a:rPr>
              <a:t>Ozeanische Kruste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Dicke: 5–10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Gestein: Basalt (schwer, dunkel)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Liegt unter den Weltmeeren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Jünger und dichter als Kontinentalkruste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Wird an Plattengrenzen neu gebildet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Tektonische Platten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Erdkruste ist in ~15 große Platten geteilt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Platten bewegen sich: 2–10 cm/Jahr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Angetrieben durch Konvektion im Mantel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An Grenzen: Erdbeben, Vulkane, Gebirge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DE80"/>
                </a:solidFill>
              </a:rPr>
              <a:t>Wichtige Fakten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Dünnste Schicht der Erde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Nur ~1% der Erdmasse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Hauptelemente: Sauerstoff, Silizium,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Aluminium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Dichte: 2,7–3,0 g/cm³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🔵  Der obere Erdmantel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60A5FA"/>
                </a:solidFill>
              </a:rPr>
              <a:t>👤 Person 1  ·  Folie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0A5FA"/>
                </a:solidFill>
              </a:rPr>
              <a:t>Aufbau &amp; Eigenschaften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Tiefe: 70 – 660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Zustand: zähflüssig / plastisch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Gestein: Peridotit, Olivin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Temperatur: 1.000 – 1.600°C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Dichte: 3,3 – 3,5 g/cm³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Asthenosphäre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Oberer Teil des Mantels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Plastisch verformbar wie Kaugummi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Tektonische Platten 'schwimmen' darauf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Magma kann hier entstehen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Ermöglicht Plattenbewegung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Konvektion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Heißes Gestein steigt auf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Kühlt sich ab und sinkt wieder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Wie in einem Kochtopf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Treibt die tektonischen Platten 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0A5FA"/>
                </a:solidFill>
              </a:rPr>
              <a:t>Wichtige Fakten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Macht ~10% des Erdvolumens aus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Hauptelemente: Sauerstoff,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Magnesium, Silizium, Eisen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Verbindung zur Erdkruste: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Lithosphäre = Kruste + ob. Mantel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🟠  Der untere Erdmantel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B923C"/>
                </a:solidFill>
              </a:rPr>
              <a:t>👤 Person 1  ·  Folie 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Aufbau &amp; Eigenschaften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Tiefe: 660 – 2.900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Zustand: FEST (trotz Hitze!)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Grund: extremer Druck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Temperatur: 1.600 – 3.700°C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Dichte: 3,5 – 5,6 g/cm³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Mesosphäre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Unterer Mantel = Mesosphäre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Dickste Schicht der Erde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Gestein fest wegen Druck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Sehr langsame Konvektionsströmungen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Material: Silikate &amp; Oxide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Bedeutung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Macht ~74% des Erdvolumens aus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Gesamter Mantel: ~84% Erdvolumen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Wärmeleitung vom Kern zur Kruste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Treibt langfristig Plattenbewegung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Wichtige Fakten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Dickste Einzelschicht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Hauptgestein: Peridotit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Übergang zum Kern bei 2.900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Grenze heißt: Kern-Mantel-Grenze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(Gutenberg-Diskontinuität)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🔴  Der äußere Erdkern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87171"/>
                </a:solidFill>
              </a:rPr>
              <a:t>👤 Person 2  ·  Folie 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Aufbau &amp; Eigenschaften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Tiefe: 2.900 – 5.150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Zustand: FLÜSSIG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Material: Eisen &amp; Nickel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Temperatur: 4.000 – 5.000°C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Dichte: ~10–12 g/cm³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72B6"/>
                </a:solidFill>
              </a:rPr>
              <a:t>Das Magnetfeld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Flüssiges Eisen rotiert mit der Erde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erzeugt elektrische Ströme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erzeugt das Erdmagnetfeld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Magnetfeld schützt vor Sonnenwind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Ohne Magnetfeld: kein Leben auf Erde!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Konvektion im Kern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Heiße Metallschmelze steigt auf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Kühlt ab und sinkt wieder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Bewegung durch Erdrotation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Dynamo-Effekt → Magnetfeld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Wichtige Fakten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Dicke: ~2.250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Entdeckt durch Erdbebenwellen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Schallwellen können flüssige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Schicht nicht durchdringen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~30% der Erdmasse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🟡  Der innere Erdkern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BBF24"/>
                </a:solidFill>
              </a:rPr>
              <a:t>👤 Person 2  ·  Folie 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Aufbau &amp; Eigenschaften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Tiefe: 5.150 – 6.371 km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Zustand: FEST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Material: Eisen &amp; Nickel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Temperatur: ~5.500°C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Radius: ~1.220 km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Warum fest trotz 5.500°C?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Extremer Druck: 3,6 Mio. bar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Druck verhindert dass Metall schmilzt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Ähnlich wie Wasser unter Druck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= höherer Siedepunkt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Physikalisches Phänomen: Druckfestigung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Besonderheiten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Rotiert leicht schneller als die Erde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Etwa 0,3–0,5° pro Jahr schneller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Innere Struktur noch nicht vollständig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erforscht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Heißeste Stelle der Erde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BF24"/>
                </a:solidFill>
              </a:rPr>
              <a:t>Wichtige Fakten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~16% des Erdvolumens (gesamter Kern)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~32% der Erdmasse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Entdeckt 1936 von Inge Lehmann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Nachweis durch Seismologie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(Erdbebenwellen-Analyse)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🌋  Vulkane &amp; Erdbeben durch Plattenbewegung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B923C"/>
                </a:solidFill>
              </a:rPr>
              <a:t>👤 Person 2  ·  Folie 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Wie entstehen Vulkane?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An Plattengrenzen drückt Magma hoch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Subduzierte Platten schmelzen im Mantel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Magma steigt durch Risse auf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Vulkane an Plattengrenzen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Beispiel: Pazifischer Feuerring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Wie entstehen Erdbeben?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Platten bewegen sich gegeneinander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Spannung baut sich auf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Plötzliche Entladung = Erdbeben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Stärke: Richterskala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Gefährlichste Zone: Plattengrenzen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Arten von Plattengrenzen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Divergent: Platten entfernen sich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→ Mittelozeanische Rücken, Vulkane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Konvergent: Platten stoßen zusammen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→ Gebirge, Erdbeben, Vulkane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Transform: Platten gleiten aneinander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→ Erdbeben (z.B. San-Andreas-Graben)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Bekannte Beispiele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Vesuv (Italien) – Konvergenzgrenze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Eyjafjallajökull (Island) – Divergenz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Erdbeben Japan 2011 – Subduktion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Himalaya – Indien trifft Eurasien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Pazifischer Feuerring – ~90% Beben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🌿  Bedeutung des Erdaufbaus für das Leben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2286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4ADE80"/>
                </a:solidFill>
              </a:rPr>
              <a:t>👤 Person 2  ·  Folie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57784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4864" cy="246888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984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84FC"/>
                </a:solidFill>
              </a:rPr>
              <a:t>Magnetfeld schützt das Leben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64208"/>
            <a:ext cx="53492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Äußerer Kern erzeugt Magnetfeld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Magnetfeld hält Sonnenwind ab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Ohne Magnetfeld: Atmosphäre wäre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weggepustet wie bei Mars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Kein Leben ohne Erdkern!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1188720"/>
            <a:ext cx="54864" cy="246888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9844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Wärme &amp; Energie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64208"/>
            <a:ext cx="562356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Erdinneres gibt Wärme ab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Geothermie: nutzbare Energie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Vulkane: fruchtbarer Boden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Mineralien &amp; Rohstoffe entstehen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durch geologische Prozesse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840480"/>
            <a:ext cx="557784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54864" cy="25603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95020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ADE80"/>
                </a:solidFill>
              </a:rPr>
              <a:t>Plattentektonik &amp; Lebensgrundlagen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534924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Gebirge durch Plattenbewegung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→ Regen, Flüsse, Trinkwasser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Mineralreiche Böden durch Vulkane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Kohlenstoffkreislauf durch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  tektonische Prozesse reguliert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→ Stabiles Klima für Leben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3840480"/>
            <a:ext cx="54864" cy="256032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950208"/>
            <a:ext cx="5623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D4BF"/>
                </a:solidFill>
              </a:rPr>
              <a:t>Zusammenfassung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315968"/>
            <a:ext cx="562356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Kruste  → Lebensraum &amp; Platten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Mantel  → Konvektion &amp; Energie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Äuß. Kern → Magnetfeld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• Inn. Kern → Stabilität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Merksatz: tiefer = heißer,</a:t>
            </a:r>
          </a:p>
          <a:p>
            <a:pPr algn="l"/>
            <a:r>
              <a:rPr sz="1700" b="0">
                <a:solidFill>
                  <a:srgbClr val="FFFFFF"/>
                </a:solidFill>
              </a:rPr>
              <a:t>dichter, mehr Druck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89504" y="-91440"/>
            <a:ext cx="6400800" cy="6400800"/>
          </a:xfrm>
          <a:prstGeom prst="ellipse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2464" y="731519"/>
            <a:ext cx="4754880" cy="47548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443984" y="1463039"/>
            <a:ext cx="3291840" cy="329184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84064" y="2103120"/>
            <a:ext cx="2011680" cy="20116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32704" y="2651760"/>
            <a:ext cx="914400" cy="9144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Danke fürs Zuhören!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</a:rPr>
              <a:t>Fragen?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429000"/>
            <a:ext cx="7616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6118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</a:rPr>
              <a:t>Aufbau der Erde  ·  Erdkruste  ·  Erdmantel  ·  Erdkern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519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DD4BF"/>
                </a:solidFill>
              </a:rPr>
              <a:t>👤 Person 1  —  Entstehung · Erdkruste · Ob. Mantel · Unt. Mantel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709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084FC"/>
                </a:solidFill>
              </a:rPr>
              <a:t>👤 Person 2  —  Äuß. Kern · Inn. Kern · Vulkane &amp; Erdbeben · Bedeutung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